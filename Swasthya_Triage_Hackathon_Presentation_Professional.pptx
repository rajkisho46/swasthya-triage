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87936"/>
            <a:ext cx="10728655" cy="45720"/>
          </a:xfrm>
          <a:prstGeom prst="rect">
            <a:avLst/>
          </a:prstGeom>
          <a:solidFill>
            <a:srgbClr val="13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19" y="803304"/>
            <a:ext cx="5303520" cy="310896"/>
          </a:xfrm>
          <a:prstGeom prst="roundRect">
            <a:avLst/>
          </a:prstGeom>
          <a:solidFill>
            <a:srgbClr val="134E4A"/>
          </a:solidFill>
          <a:ln w="12700"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36576" rtlCol="0" anchor="ctr"/>
          <a:lstStyle/>
          <a:p>
            <a:pPr algn="l">
              <a:defRPr sz="950" b="1">
                <a:solidFill>
                  <a:srgbClr val="73E0D0"/>
                </a:solidFill>
                <a:latin typeface="Segoe UI"/>
              </a:defRPr>
            </a:pPr>
            <a:r>
              <a:t>  CLINICAL DECISION SUPPORT &amp; MULTIMODAL TRIAGE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1188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SWASTHYA TRIAGE</a:t>
            </a:r>
          </a:p>
          <a:p>
            <a:pPr algn="l">
              <a:spcBef>
                <a:spcPts val="400"/>
              </a:spcBef>
              <a:defRPr sz="1400">
                <a:solidFill>
                  <a:srgbClr val="73E0D0"/>
                </a:solidFill>
                <a:latin typeface="Segoe UI"/>
              </a:defRPr>
            </a:pPr>
            <a:r>
              <a:rPr dirty="0"/>
              <a:t>Clinician-Supervised Multimodal Patient Intake &amp; Safe Triage Assistance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06040"/>
            <a:ext cx="5303520" cy="3600000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22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t"/>
          <a:lstStyle/>
          <a:p>
            <a:pPr algn="l">
              <a:spcAft>
                <a:spcPts val="800"/>
              </a:spcAft>
              <a:defRPr sz="1100" b="1">
                <a:solidFill>
                  <a:srgbClr val="73E0D0"/>
                </a:solidFill>
                <a:latin typeface="Segoe UI"/>
              </a:defRPr>
            </a:pPr>
            <a:r>
              <a:rPr sz="2000" dirty="0"/>
              <a:t>Problem Statement: </a:t>
            </a:r>
            <a:r>
              <a:rPr sz="2000" b="0" dirty="0">
                <a:solidFill>
                  <a:srgbClr val="FDE047"/>
                </a:solidFill>
                <a:latin typeface="Segoe UI"/>
              </a:rPr>
              <a:t>[ADD LATER]</a:t>
            </a:r>
          </a:p>
          <a:p>
            <a:pPr algn="l">
              <a:spcAft>
                <a:spcPts val="800"/>
              </a:spcAft>
              <a:defRPr sz="1100" b="1">
                <a:solidFill>
                  <a:srgbClr val="73E0D0"/>
                </a:solidFill>
                <a:latin typeface="Segoe UI"/>
              </a:defRPr>
            </a:pPr>
            <a:r>
              <a:rPr sz="2000" dirty="0"/>
              <a:t>Problem Statement ID: </a:t>
            </a:r>
            <a:r>
              <a:rPr sz="2000" b="0" dirty="0">
                <a:solidFill>
                  <a:srgbClr val="FDE047"/>
                </a:solidFill>
                <a:latin typeface="Segoe UI"/>
              </a:rPr>
              <a:t>[ADD LATER]</a:t>
            </a:r>
          </a:p>
          <a:p>
            <a:pPr algn="l">
              <a:spcAft>
                <a:spcPts val="800"/>
              </a:spcAft>
              <a:defRPr sz="1100" b="1">
                <a:solidFill>
                  <a:srgbClr val="73E0D0"/>
                </a:solidFill>
                <a:latin typeface="Segoe UI"/>
              </a:defRPr>
            </a:pPr>
            <a:r>
              <a:rPr sz="2000" dirty="0"/>
              <a:t>Team Name: </a:t>
            </a:r>
            <a:r>
              <a:rPr sz="2000" b="0" dirty="0">
                <a:solidFill>
                  <a:srgbClr val="FDE047"/>
                </a:solidFill>
                <a:latin typeface="Segoe UI"/>
              </a:rPr>
              <a:t>[ADD LATER]</a:t>
            </a:r>
          </a:p>
          <a:p>
            <a:pPr algn="l">
              <a:spcAft>
                <a:spcPts val="800"/>
              </a:spcAft>
              <a:defRPr sz="1100" b="1">
                <a:solidFill>
                  <a:srgbClr val="73E0D0"/>
                </a:solidFill>
                <a:latin typeface="Segoe UI"/>
              </a:defRPr>
            </a:pPr>
            <a:r>
              <a:rPr sz="2000" dirty="0"/>
              <a:t>Domain: </a:t>
            </a:r>
            <a:r>
              <a:rPr sz="2000" b="0" dirty="0">
                <a:solidFill>
                  <a:srgbClr val="FDE047"/>
                </a:solidFill>
                <a:latin typeface="Segoe UI"/>
              </a:rPr>
              <a:t>[ADD LATER]</a:t>
            </a:r>
          </a:p>
          <a:p>
            <a:pPr algn="l">
              <a:spcAft>
                <a:spcPts val="800"/>
              </a:spcAft>
              <a:defRPr sz="1100" b="1">
                <a:solidFill>
                  <a:srgbClr val="73E0D0"/>
                </a:solidFill>
                <a:latin typeface="Segoe UI"/>
              </a:defRPr>
            </a:pPr>
            <a:r>
              <a:rPr sz="2000" dirty="0"/>
              <a:t>Tagline: </a:t>
            </a:r>
            <a:r>
              <a:rPr sz="2000" b="0" dirty="0">
                <a:solidFill>
                  <a:srgbClr val="FDE047"/>
                </a:solidFill>
                <a:latin typeface="Segoe UI"/>
              </a:rPr>
              <a:t>[ADD LATER]</a:t>
            </a:r>
          </a:p>
          <a:p>
            <a:pPr algn="l">
              <a:spcAft>
                <a:spcPts val="800"/>
              </a:spcAft>
              <a:defRPr sz="1100" b="1">
                <a:solidFill>
                  <a:srgbClr val="10B981"/>
                </a:solidFill>
                <a:latin typeface="Segoe UI"/>
              </a:defRPr>
            </a:pPr>
            <a:r>
              <a:rPr sz="2000" dirty="0"/>
              <a:t>System Architecture: </a:t>
            </a:r>
            <a:r>
              <a:rPr sz="2000" b="0" dirty="0" err="1">
                <a:solidFill>
                  <a:srgbClr val="FFFFFF"/>
                </a:solidFill>
                <a:latin typeface="Segoe UI"/>
              </a:rPr>
              <a:t>FastAPI</a:t>
            </a:r>
            <a:r>
              <a:rPr sz="2000" b="0" dirty="0">
                <a:solidFill>
                  <a:srgbClr val="FFFFFF"/>
                </a:solidFill>
                <a:latin typeface="Segoe UI"/>
              </a:rPr>
              <a:t> + Python + React 19 + AI Safety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606040"/>
            <a:ext cx="5242255" cy="3474720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22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53047" y="2705940"/>
            <a:ext cx="50292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defRPr sz="900" b="1">
                <a:solidFill>
                  <a:srgbClr val="73E0D0"/>
                </a:solidFill>
                <a:latin typeface="Segoe UI"/>
              </a:defRPr>
            </a:pPr>
            <a:r>
              <a:rPr dirty="0"/>
              <a:t>LIVE PLATFORM • PATIENT &amp; CLINICAL AUTHENTICATION</a:t>
            </a:r>
          </a:p>
        </p:txBody>
      </p:sp>
      <p:pic>
        <p:nvPicPr>
          <p:cNvPr id="9" name="Picture 8" descr="01_patient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992" y="2897280"/>
            <a:ext cx="5059375" cy="30175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0" name="Rectangle 9"/>
          <p:cNvSpPr/>
          <p:nvPr/>
        </p:nvSpPr>
        <p:spPr>
          <a:xfrm>
            <a:off x="746607" y="6372000"/>
            <a:ext cx="10728655" cy="320040"/>
          </a:xfrm>
          <a:prstGeom prst="rect">
            <a:avLst/>
          </a:prstGeom>
          <a:solidFill>
            <a:srgbClr val="0F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94A3B8"/>
                </a:solidFill>
                <a:latin typeface="Segoe UI"/>
              </a:defRPr>
            </a:pPr>
            <a:r>
              <a:rPr dirty="0"/>
              <a:t>TECH STACK:  React 19  •  TypeScript  •  </a:t>
            </a:r>
            <a:r>
              <a:rPr dirty="0" err="1"/>
              <a:t>FastAPI</a:t>
            </a:r>
            <a:r>
              <a:rPr dirty="0"/>
              <a:t>  •  Python 3.12  •  SQLite / PostgreSQL  •  </a:t>
            </a:r>
            <a:r>
              <a:rPr dirty="0" err="1"/>
              <a:t>ReportLab</a:t>
            </a:r>
            <a:r>
              <a:rPr dirty="0"/>
              <a:t> PDF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219456"/>
            <a:ext cx="4389120" cy="292608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l">
              <a:defRPr sz="950" b="1">
                <a:solidFill>
                  <a:srgbClr val="0F766E"/>
                </a:solidFill>
                <a:latin typeface="Segoe UI"/>
              </a:defRPr>
            </a:pPr>
            <a:r>
              <a:t>  PROBLEM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347472"/>
            <a:ext cx="109728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02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Segoe UI"/>
              </a:defRPr>
            </a:pPr>
            <a:r>
              <a:t>The Problem: Unstructured Triage &amp; Information Overload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228600" bIns="164592" rtlCol="0" anchor="t"/>
          <a:lstStyle/>
          <a:p>
            <a:pPr algn="l">
              <a:defRPr sz="1150" b="1">
                <a:solidFill>
                  <a:srgbClr val="0F172A"/>
                </a:solidFill>
                <a:latin typeface="Segoe UI"/>
              </a:defRPr>
            </a:pPr>
            <a:r>
              <a:rPr sz="1400" dirty="0"/>
              <a:t>1. Unstructured Patient Complaints</a:t>
            </a:r>
          </a:p>
          <a:p>
            <a:pPr algn="l">
              <a:spcBef>
                <a:spcPts val="300"/>
              </a:spcBef>
              <a:defRPr sz="950">
                <a:solidFill>
                  <a:srgbClr val="526174"/>
                </a:solidFill>
                <a:latin typeface="Segoe UI"/>
              </a:defRPr>
            </a:pPr>
            <a:r>
              <a:rPr sz="1400" dirty="0"/>
              <a:t>Patients present symptoms in colloquial, disorganized narratives across text, speech, and paper reports where critical red-flags are easily obscured.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14600"/>
            <a:ext cx="52120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228600" bIns="164592" rtlCol="0" anchor="t"/>
          <a:lstStyle/>
          <a:p>
            <a:pPr algn="l">
              <a:defRPr sz="1150" b="1">
                <a:solidFill>
                  <a:srgbClr val="0F172A"/>
                </a:solidFill>
                <a:latin typeface="Segoe UI"/>
              </a:defRPr>
            </a:pPr>
            <a:r>
              <a:rPr sz="1200" dirty="0"/>
              <a:t>2. Delayed Urgency Prioritization</a:t>
            </a:r>
          </a:p>
          <a:p>
            <a:pPr algn="l">
              <a:spcBef>
                <a:spcPts val="300"/>
              </a:spcBef>
              <a:defRPr sz="950">
                <a:solidFill>
                  <a:srgbClr val="526174"/>
                </a:solidFill>
                <a:latin typeface="Segoe UI"/>
              </a:defRPr>
            </a:pPr>
            <a:r>
              <a:rPr sz="1200" dirty="0"/>
              <a:t>Emergency and outpatient queues struggle to rapidly distinguish routine complaints from time-sensitive emergencies prior to formal bedside assessment.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94760"/>
            <a:ext cx="52120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228600" bIns="164592" rtlCol="0" anchor="t"/>
          <a:lstStyle/>
          <a:p>
            <a:pPr algn="l">
              <a:defRPr sz="1150" b="1">
                <a:solidFill>
                  <a:srgbClr val="0F172A"/>
                </a:solidFill>
                <a:latin typeface="Segoe UI"/>
              </a:defRPr>
            </a:pPr>
            <a:r>
              <a:rPr sz="1200" dirty="0"/>
              <a:t>3. Need for Clinician-Supervised AI</a:t>
            </a:r>
          </a:p>
          <a:p>
            <a:pPr algn="l">
              <a:spcBef>
                <a:spcPts val="300"/>
              </a:spcBef>
              <a:defRPr sz="950">
                <a:solidFill>
                  <a:srgbClr val="526174"/>
                </a:solidFill>
                <a:latin typeface="Segoe UI"/>
              </a:defRPr>
            </a:pPr>
            <a:r>
              <a:rPr sz="1200" dirty="0"/>
              <a:t>Generic chatbots hallucinate and provide unsupervised advice. Clinical environments require non-diagnostic AI with mandatory physician oversight.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5212080" cy="1371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228600" bIns="164592" rtlCol="0" anchor="t"/>
          <a:lstStyle/>
          <a:p>
            <a:pPr algn="l">
              <a:defRPr sz="950" b="1">
                <a:solidFill>
                  <a:srgbClr val="D94848"/>
                </a:solidFill>
                <a:latin typeface="Segoe UI"/>
              </a:defRPr>
            </a:pPr>
            <a:r>
              <a:rPr sz="1100" dirty="0"/>
              <a:t>TRADITIONAL WORKFLOW:</a:t>
            </a:r>
          </a:p>
          <a:p>
            <a:pPr algn="l">
              <a:spcAft>
                <a:spcPts val="600"/>
              </a:spcAft>
              <a:defRPr sz="900">
                <a:solidFill>
                  <a:srgbClr val="526174"/>
                </a:solidFill>
                <a:latin typeface="Segoe UI"/>
              </a:defRPr>
            </a:pPr>
            <a:r>
              <a:rPr sz="1100" dirty="0"/>
              <a:t>Patient  →  Unstructured Info  →  Manual Interpretation  →  Delayed Prioritization</a:t>
            </a:r>
          </a:p>
          <a:p>
            <a:pPr algn="l">
              <a:defRPr sz="950" b="1">
                <a:solidFill>
                  <a:srgbClr val="0F766E"/>
                </a:solidFill>
                <a:latin typeface="Segoe UI"/>
              </a:defRPr>
            </a:pPr>
            <a:r>
              <a:rPr sz="1100" dirty="0"/>
              <a:t>SWASTHYA TRIAGE APPROACH:</a:t>
            </a:r>
          </a:p>
          <a:p>
            <a:pPr algn="l">
              <a:defRPr sz="900" b="1">
                <a:solidFill>
                  <a:srgbClr val="0F172A"/>
                </a:solidFill>
                <a:latin typeface="Segoe UI"/>
              </a:defRPr>
            </a:pPr>
            <a:r>
              <a:rPr sz="1100" dirty="0"/>
              <a:t>Patient  →  Structured Multimodal Intake  →  AI Safety &amp; Triage  →  Human Clinical Review</a:t>
            </a:r>
          </a:p>
        </p:txBody>
      </p:sp>
      <p:pic>
        <p:nvPicPr>
          <p:cNvPr id="10" name="Picture 9" descr="02_patient_portal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234440"/>
            <a:ext cx="5242255" cy="52578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4389120" cy="292608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l">
              <a:defRPr sz="950" b="1">
                <a:solidFill>
                  <a:srgbClr val="0F766E"/>
                </a:solidFill>
                <a:latin typeface="Segoe UI"/>
              </a:defRPr>
            </a:pPr>
            <a:r>
              <a:t>  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347472"/>
            <a:ext cx="109728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03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Segoe UI"/>
              </a:defRPr>
            </a:pPr>
            <a:r>
              <a:rPr dirty="0"/>
              <a:t>Introducing </a:t>
            </a:r>
            <a:r>
              <a:rPr dirty="0" err="1"/>
              <a:t>Swasthya</a:t>
            </a:r>
            <a:r>
              <a:rPr dirty="0"/>
              <a:t> Triage: 6-Stage Clinical Handoff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07008"/>
            <a:ext cx="10728655" cy="438912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l">
              <a:defRPr sz="1100" b="1">
                <a:solidFill>
                  <a:srgbClr val="0F766E"/>
                </a:solidFill>
                <a:latin typeface="Segoe UI"/>
              </a:defRPr>
            </a:pPr>
            <a:r>
              <a:t>  CORE PRINCIPLE:  "AI assists the workflow. Clinicians make the final decision."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1673352" cy="1280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t"/>
          <a:lstStyle/>
          <a:p>
            <a:pPr algn="l">
              <a:defRPr sz="1000" b="1">
                <a:solidFill>
                  <a:srgbClr val="0F172A"/>
                </a:solidFill>
                <a:latin typeface="Segoe UI"/>
              </a:defRPr>
            </a:pPr>
            <a:r>
              <a:rPr sz="1200"/>
              <a:t>01. Patient Intake</a:t>
            </a:r>
          </a:p>
          <a:p>
            <a:pPr algn="l">
              <a:spcBef>
                <a:spcPts val="300"/>
              </a:spcBef>
              <a:defRPr sz="850">
                <a:solidFill>
                  <a:srgbClr val="526174"/>
                </a:solidFill>
                <a:latin typeface="Segoe UI"/>
              </a:defRPr>
            </a:pPr>
            <a:r>
              <a:rPr sz="1200"/>
              <a:t>Multimodal input via Text, Voice, or Lab OCR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42032" y="1783080"/>
            <a:ext cx="1673352" cy="1280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t"/>
          <a:lstStyle/>
          <a:p>
            <a:pPr algn="l">
              <a:defRPr sz="1000" b="1">
                <a:solidFill>
                  <a:srgbClr val="0F766E"/>
                </a:solidFill>
                <a:latin typeface="Segoe UI"/>
              </a:defRPr>
            </a:pPr>
            <a:r>
              <a:rPr sz="1200"/>
              <a:t>02. Health AI</a:t>
            </a:r>
          </a:p>
          <a:p>
            <a:pPr algn="l">
              <a:spcBef>
                <a:spcPts val="300"/>
              </a:spcBef>
              <a:defRPr sz="850">
                <a:solidFill>
                  <a:srgbClr val="526174"/>
                </a:solidFill>
                <a:latin typeface="Segoe UI"/>
              </a:defRPr>
            </a:pPr>
            <a:r>
              <a:rPr sz="1200"/>
              <a:t>Symptom extraction &amp; red-flag evaluation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2544" y="1783080"/>
            <a:ext cx="1673352" cy="1280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t"/>
          <a:lstStyle/>
          <a:p>
            <a:pPr algn="l">
              <a:defRPr sz="1000" b="1">
                <a:solidFill>
                  <a:srgbClr val="0F766E"/>
                </a:solidFill>
                <a:latin typeface="Segoe UI"/>
              </a:defRPr>
            </a:pPr>
            <a:r>
              <a:rPr sz="1200"/>
              <a:t>03. Priority Triage</a:t>
            </a:r>
          </a:p>
          <a:p>
            <a:pPr algn="l">
              <a:spcBef>
                <a:spcPts val="300"/>
              </a:spcBef>
              <a:defRPr sz="850">
                <a:solidFill>
                  <a:srgbClr val="526174"/>
                </a:solidFill>
                <a:latin typeface="Segoe UI"/>
              </a:defRPr>
            </a:pPr>
            <a:r>
              <a:rPr sz="1200"/>
              <a:t>Urgency signal calculation with evidence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3056" y="1783080"/>
            <a:ext cx="1673352" cy="1280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t"/>
          <a:lstStyle/>
          <a:p>
            <a:pPr algn="l">
              <a:defRPr sz="1000" b="1">
                <a:solidFill>
                  <a:srgbClr val="0F172A"/>
                </a:solidFill>
                <a:latin typeface="Segoe UI"/>
              </a:defRPr>
            </a:pPr>
            <a:r>
              <a:rPr sz="1200" dirty="0"/>
              <a:t>04. Nurse Queue</a:t>
            </a:r>
          </a:p>
          <a:p>
            <a:pPr algn="l">
              <a:spcBef>
                <a:spcPts val="300"/>
              </a:spcBef>
              <a:defRPr sz="850">
                <a:solidFill>
                  <a:srgbClr val="526174"/>
                </a:solidFill>
                <a:latin typeface="Segoe UI"/>
              </a:defRPr>
            </a:pPr>
            <a:r>
              <a:rPr sz="1200" dirty="0"/>
              <a:t>Prioritized triaging &amp; bedside vitals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73568" y="1783080"/>
            <a:ext cx="1673352" cy="1280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t"/>
          <a:lstStyle/>
          <a:p>
            <a:pPr algn="l">
              <a:defRPr sz="1000" b="1">
                <a:solidFill>
                  <a:srgbClr val="0F172A"/>
                </a:solidFill>
                <a:latin typeface="Segoe UI"/>
              </a:defRPr>
            </a:pPr>
            <a:r>
              <a:rPr sz="1200" dirty="0"/>
              <a:t>05. Reviewer MD</a:t>
            </a:r>
          </a:p>
          <a:p>
            <a:pPr algn="l">
              <a:spcBef>
                <a:spcPts val="300"/>
              </a:spcBef>
              <a:defRPr sz="850">
                <a:solidFill>
                  <a:srgbClr val="526174"/>
                </a:solidFill>
                <a:latin typeface="Segoe UI"/>
              </a:defRPr>
            </a:pPr>
            <a:r>
              <a:rPr sz="1200" dirty="0"/>
              <a:t>Clinical confirmation, notes, or override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84080" y="1783080"/>
            <a:ext cx="1673352" cy="1280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t"/>
          <a:lstStyle/>
          <a:p>
            <a:pPr algn="l">
              <a:defRPr sz="1000" b="1">
                <a:solidFill>
                  <a:srgbClr val="0F172A"/>
                </a:solidFill>
                <a:latin typeface="Segoe UI"/>
              </a:defRPr>
            </a:pPr>
            <a:r>
              <a:rPr sz="1200" dirty="0"/>
              <a:t>06. Referral &amp; Audit</a:t>
            </a:r>
          </a:p>
          <a:p>
            <a:pPr algn="l">
              <a:spcBef>
                <a:spcPts val="300"/>
              </a:spcBef>
              <a:defRPr sz="850">
                <a:solidFill>
                  <a:srgbClr val="526174"/>
                </a:solidFill>
                <a:latin typeface="Segoe UI"/>
              </a:defRPr>
            </a:pPr>
            <a:r>
              <a:rPr sz="1200" dirty="0"/>
              <a:t>Instant PDF generation &amp; audit trail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00400"/>
            <a:ext cx="393192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t"/>
          <a:lstStyle/>
          <a:p>
            <a:pPr algn="l">
              <a:defRPr sz="1150" b="1">
                <a:solidFill>
                  <a:srgbClr val="0F172A"/>
                </a:solidFill>
                <a:latin typeface="Segoe UI"/>
              </a:defRPr>
            </a:pPr>
            <a:r>
              <a:rPr sz="1200" dirty="0"/>
              <a:t>Implemented Core Capabilities:</a:t>
            </a:r>
          </a:p>
          <a:p>
            <a:pPr algn="l">
              <a:spcBef>
                <a:spcPts val="300"/>
              </a:spcBef>
              <a:defRPr sz="900">
                <a:solidFill>
                  <a:srgbClr val="526174"/>
                </a:solidFill>
                <a:latin typeface="Segoe UI"/>
              </a:defRPr>
            </a:pPr>
            <a:r>
              <a:rPr sz="1200" dirty="0"/>
              <a:t>✔  Patient Self-Intake &amp; JWT Authentication</a:t>
            </a:r>
          </a:p>
          <a:p>
            <a:pPr algn="l">
              <a:spcBef>
                <a:spcPts val="300"/>
              </a:spcBef>
              <a:defRPr sz="900">
                <a:solidFill>
                  <a:srgbClr val="526174"/>
                </a:solidFill>
                <a:latin typeface="Segoe UI"/>
              </a:defRPr>
            </a:pPr>
            <a:r>
              <a:rPr sz="1200" dirty="0"/>
              <a:t>✔  Conversational Health AI with Safety Guardrails</a:t>
            </a:r>
          </a:p>
          <a:p>
            <a:pPr algn="l">
              <a:spcBef>
                <a:spcPts val="300"/>
              </a:spcBef>
              <a:defRPr sz="900">
                <a:solidFill>
                  <a:srgbClr val="526174"/>
                </a:solidFill>
                <a:latin typeface="Segoe UI"/>
              </a:defRPr>
            </a:pPr>
            <a:r>
              <a:rPr sz="1200" dirty="0"/>
              <a:t>✔  Deterministic Urgency Rules (Cardiorespiratory, etc.)</a:t>
            </a:r>
          </a:p>
          <a:p>
            <a:pPr algn="l">
              <a:spcBef>
                <a:spcPts val="300"/>
              </a:spcBef>
              <a:defRPr sz="900">
                <a:solidFill>
                  <a:srgbClr val="526174"/>
                </a:solidFill>
                <a:latin typeface="Segoe UI"/>
              </a:defRPr>
            </a:pPr>
            <a:r>
              <a:rPr sz="1200" dirty="0"/>
              <a:t>✔  Role-Based Access Control (Patient, Nurse, Doctor, Admin)</a:t>
            </a:r>
          </a:p>
          <a:p>
            <a:pPr algn="l">
              <a:spcBef>
                <a:spcPts val="300"/>
              </a:spcBef>
              <a:defRPr sz="900">
                <a:solidFill>
                  <a:srgbClr val="526174"/>
                </a:solidFill>
                <a:latin typeface="Segoe UI"/>
              </a:defRPr>
            </a:pPr>
            <a:r>
              <a:rPr sz="1200" dirty="0"/>
              <a:t>✔  Nurse Bedside Vitals (Temp, BP, SpO2, Heart Rate)</a:t>
            </a:r>
          </a:p>
          <a:p>
            <a:pPr algn="l">
              <a:spcBef>
                <a:spcPts val="300"/>
              </a:spcBef>
              <a:defRPr sz="900">
                <a:solidFill>
                  <a:srgbClr val="526174"/>
                </a:solidFill>
                <a:latin typeface="Segoe UI"/>
              </a:defRPr>
            </a:pPr>
            <a:r>
              <a:rPr sz="1200" dirty="0"/>
              <a:t>✔  Doctor Review &amp; Direct Override Protocol</a:t>
            </a:r>
          </a:p>
          <a:p>
            <a:pPr algn="l">
              <a:spcBef>
                <a:spcPts val="300"/>
              </a:spcBef>
              <a:defRPr sz="900">
                <a:solidFill>
                  <a:srgbClr val="526174"/>
                </a:solidFill>
                <a:latin typeface="Segoe UI"/>
              </a:defRPr>
            </a:pPr>
            <a:r>
              <a:rPr sz="1200" dirty="0"/>
              <a:t>✔  Referral Generation with </a:t>
            </a:r>
            <a:r>
              <a:rPr sz="1200" dirty="0" err="1"/>
              <a:t>ReportLab</a:t>
            </a:r>
            <a:r>
              <a:rPr sz="1200" dirty="0"/>
              <a:t> PDF Engine</a:t>
            </a:r>
          </a:p>
        </p:txBody>
      </p:sp>
      <p:pic>
        <p:nvPicPr>
          <p:cNvPr id="14" name="Picture 13" descr="04_patient_intake_multi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3200400"/>
            <a:ext cx="3520440" cy="32918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5" name="Picture 14" descr="08_medical_reviewer_worksp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3200400"/>
            <a:ext cx="3001975" cy="32918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4389120" cy="292608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l">
              <a:defRPr sz="950" b="1">
                <a:solidFill>
                  <a:srgbClr val="0F766E"/>
                </a:solidFill>
                <a:latin typeface="Segoe UI"/>
              </a:defRPr>
            </a:pPr>
            <a:r>
              <a:t>  AI &amp; SAFETY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347472"/>
            <a:ext cx="109728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04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19" y="804672"/>
            <a:ext cx="10728655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Segoe UI"/>
              </a:defRPr>
            </a:pPr>
            <a:r>
              <a:rPr dirty="0"/>
              <a:t>Health AI — From Patient Input to Safe Assistance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12064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t"/>
          <a:lstStyle/>
          <a:p>
            <a:pPr algn="l">
              <a:defRPr sz="1050" b="1">
                <a:solidFill>
                  <a:srgbClr val="0F172A"/>
                </a:solidFill>
                <a:latin typeface="Segoe UI"/>
              </a:defRPr>
            </a:pPr>
            <a:r>
              <a:rPr sz="1200"/>
              <a:t>1. Multimodal Patient Input</a:t>
            </a:r>
          </a:p>
          <a:p>
            <a:pPr algn="l">
              <a:defRPr sz="900">
                <a:solidFill>
                  <a:srgbClr val="526174"/>
                </a:solidFill>
                <a:latin typeface="Segoe UI"/>
              </a:defRPr>
            </a:pPr>
            <a:r>
              <a:rPr sz="1200"/>
              <a:t>Accepts natural language text, voice recording, or uploaded lab reports.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21992"/>
            <a:ext cx="512064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t"/>
          <a:lstStyle/>
          <a:p>
            <a:pPr algn="l">
              <a:defRPr sz="1050" b="1">
                <a:solidFill>
                  <a:srgbClr val="0F172A"/>
                </a:solidFill>
                <a:latin typeface="Segoe UI"/>
              </a:defRPr>
            </a:pPr>
            <a:r>
              <a:rPr sz="1200"/>
              <a:t>2. Clinical Structuring</a:t>
            </a:r>
          </a:p>
          <a:p>
            <a:pPr algn="l">
              <a:defRPr sz="900">
                <a:solidFill>
                  <a:srgbClr val="526174"/>
                </a:solidFill>
                <a:latin typeface="Segoe UI"/>
              </a:defRPr>
            </a:pPr>
            <a:r>
              <a:rPr sz="1200"/>
              <a:t>Extracts Chief Complaint, Symptoms, Timeline, and Medical History.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09544"/>
            <a:ext cx="512064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t"/>
          <a:lstStyle/>
          <a:p>
            <a:pPr algn="l">
              <a:defRPr sz="1050" b="1">
                <a:solidFill>
                  <a:srgbClr val="D94848"/>
                </a:solidFill>
                <a:latin typeface="Segoe UI"/>
              </a:defRPr>
            </a:pPr>
            <a:r>
              <a:rPr sz="1200" dirty="0"/>
              <a:t>3. Safety &amp; Red-Flag Rules</a:t>
            </a:r>
          </a:p>
          <a:p>
            <a:pPr algn="l">
              <a:defRPr sz="900">
                <a:solidFill>
                  <a:srgbClr val="526174"/>
                </a:solidFill>
                <a:latin typeface="Segoe UI"/>
              </a:defRPr>
            </a:pPr>
            <a:r>
              <a:rPr sz="1200" dirty="0"/>
              <a:t>Evaluates deterministic emergency rules (e.g. Cardiorespiratory distress).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97096"/>
            <a:ext cx="512064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t"/>
          <a:lstStyle/>
          <a:p>
            <a:pPr algn="l">
              <a:defRPr sz="1050" b="1">
                <a:solidFill>
                  <a:srgbClr val="0F172A"/>
                </a:solidFill>
                <a:latin typeface="Segoe UI"/>
              </a:defRPr>
            </a:pPr>
            <a:r>
              <a:rPr sz="1200"/>
              <a:t>4. Triage Prioritization</a:t>
            </a:r>
          </a:p>
          <a:p>
            <a:pPr algn="l">
              <a:defRPr sz="900">
                <a:solidFill>
                  <a:srgbClr val="526174"/>
                </a:solidFill>
                <a:latin typeface="Segoe UI"/>
              </a:defRPr>
            </a:pPr>
            <a:r>
              <a:rPr sz="1200"/>
              <a:t>Computes Urgency Level (Emergency, Urgent, Routine) with evidence citations.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184648"/>
            <a:ext cx="512064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t"/>
          <a:lstStyle/>
          <a:p>
            <a:pPr algn="l">
              <a:defRPr sz="1050" b="1">
                <a:solidFill>
                  <a:srgbClr val="0F766E"/>
                </a:solidFill>
                <a:latin typeface="Segoe UI"/>
              </a:defRPr>
            </a:pPr>
            <a:r>
              <a:rPr sz="1200"/>
              <a:t>5. Guardrailed Non-Diagnostic Output</a:t>
            </a:r>
          </a:p>
          <a:p>
            <a:pPr algn="l">
              <a:defRPr sz="900">
                <a:solidFill>
                  <a:srgbClr val="526174"/>
                </a:solidFill>
                <a:latin typeface="Segoe UI"/>
              </a:defRPr>
            </a:pPr>
            <a:r>
              <a:rPr sz="1200"/>
              <a:t>Delivers structured summary with mandatory clinician review protocol.</a:t>
            </a:r>
          </a:p>
        </p:txBody>
      </p:sp>
      <p:pic>
        <p:nvPicPr>
          <p:cNvPr id="11" name="Picture 10" descr="03_health_ai_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46" y="1234440"/>
            <a:ext cx="5333695" cy="39319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2" name="Rounded Rectangle 11"/>
          <p:cNvSpPr/>
          <p:nvPr/>
        </p:nvSpPr>
        <p:spPr>
          <a:xfrm>
            <a:off x="6126480" y="5303520"/>
            <a:ext cx="5333695" cy="118872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D9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bIns="137160" rtlCol="0" anchor="t"/>
          <a:lstStyle/>
          <a:p>
            <a:pPr algn="l">
              <a:defRPr sz="1000" b="1">
                <a:solidFill>
                  <a:srgbClr val="D94848"/>
                </a:solidFill>
                <a:latin typeface="Segoe UI"/>
              </a:defRPr>
            </a:pPr>
            <a:r>
              <a:rPr sz="1200"/>
              <a:t>🛡️ NON-DIAGNOSTIC SAFETY GUARANTEE:</a:t>
            </a:r>
          </a:p>
          <a:p>
            <a:pPr algn="l">
              <a:spcBef>
                <a:spcPts val="200"/>
              </a:spcBef>
              <a:defRPr sz="950">
                <a:solidFill>
                  <a:srgbClr val="0F172A"/>
                </a:solidFill>
                <a:latin typeface="Segoe UI"/>
              </a:defRPr>
            </a:pPr>
            <a:r>
              <a:rPr sz="1200"/>
              <a:t>"The AI identifies urgency signals and structures information. It does not independently diagnose conditions or prescribe medications."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292608"/>
            <a:ext cx="4389120" cy="292608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l">
              <a:defRPr sz="950" b="1">
                <a:solidFill>
                  <a:srgbClr val="0F766E"/>
                </a:solidFill>
                <a:latin typeface="Segoe UI"/>
              </a:defRPr>
            </a:pPr>
            <a:r>
              <a:t>  MULTIMODAL INTAKE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347472"/>
            <a:ext cx="109728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05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63524"/>
            <a:ext cx="10728655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Segoe UI"/>
              </a:defRPr>
            </a:pPr>
            <a:r>
              <a:t>Multimodal &amp; Multilingual Health AI: Unified Context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2523744" cy="1280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bIns="137160" rtlCol="0" anchor="t"/>
          <a:lstStyle/>
          <a:p>
            <a:pPr algn="l">
              <a:defRPr sz="1050" b="1">
                <a:solidFill>
                  <a:srgbClr val="13B8A6"/>
                </a:solidFill>
                <a:latin typeface="Segoe UI"/>
              </a:defRPr>
            </a:pPr>
            <a:r>
              <a:rPr sz="1200"/>
              <a:t>1. TEXT INTAKE</a:t>
            </a:r>
          </a:p>
          <a:p>
            <a:pPr algn="l">
              <a:spcBef>
                <a:spcPts val="300"/>
              </a:spcBef>
              <a:defRPr sz="850">
                <a:solidFill>
                  <a:srgbClr val="526174"/>
                </a:solidFill>
                <a:latin typeface="Segoe UI"/>
              </a:defRPr>
            </a:pPr>
            <a:r>
              <a:rPr sz="1200"/>
              <a:t>Natural language text in English/Hindi with timeline &amp; symptom capture.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234440"/>
            <a:ext cx="2523744" cy="1280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bIns="137160" rtlCol="0" anchor="t"/>
          <a:lstStyle/>
          <a:p>
            <a:pPr algn="l">
              <a:defRPr sz="1050" b="1">
                <a:solidFill>
                  <a:srgbClr val="0EA5E9"/>
                </a:solidFill>
                <a:latin typeface="Segoe UI"/>
              </a:defRPr>
            </a:pPr>
            <a:r>
              <a:rPr sz="1200"/>
              <a:t>2. VOICE ASSIST</a:t>
            </a:r>
          </a:p>
          <a:p>
            <a:pPr algn="l">
              <a:spcBef>
                <a:spcPts val="300"/>
              </a:spcBef>
              <a:defRPr sz="850">
                <a:solidFill>
                  <a:srgbClr val="526174"/>
                </a:solidFill>
                <a:latin typeface="Segoe UI"/>
              </a:defRPr>
            </a:pPr>
            <a:r>
              <a:rPr sz="1200"/>
              <a:t>Speech-to-text audio recording for elderly and accessibility-first patients.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234440"/>
            <a:ext cx="2523744" cy="1280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bIns="137160" rtlCol="0" anchor="t"/>
          <a:lstStyle/>
          <a:p>
            <a:pPr algn="l">
              <a:defRPr sz="1050" b="1">
                <a:solidFill>
                  <a:srgbClr val="10B981"/>
                </a:solidFill>
                <a:latin typeface="Segoe UI"/>
              </a:defRPr>
            </a:pPr>
            <a:r>
              <a:rPr sz="1200" dirty="0"/>
              <a:t>3. MEDICAL OCR</a:t>
            </a:r>
          </a:p>
          <a:p>
            <a:pPr algn="l">
              <a:spcBef>
                <a:spcPts val="300"/>
              </a:spcBef>
              <a:defRPr sz="850">
                <a:solidFill>
                  <a:srgbClr val="526174"/>
                </a:solidFill>
                <a:latin typeface="Segoe UI"/>
              </a:defRPr>
            </a:pPr>
            <a:r>
              <a:rPr sz="1200" dirty="0"/>
              <a:t>Lab report &amp; prescription upload with OCR extraction of vitals/findings.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1234440"/>
            <a:ext cx="2523744" cy="1280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bIns="137160" rtlCol="0" anchor="t"/>
          <a:lstStyle/>
          <a:p>
            <a:pPr algn="l">
              <a:defRPr sz="1050" b="1">
                <a:solidFill>
                  <a:srgbClr val="A855F7"/>
                </a:solidFill>
                <a:latin typeface="Segoe UI"/>
              </a:defRPr>
            </a:pPr>
            <a:r>
              <a:rPr sz="1200"/>
              <a:t>4. CLINICAL IMAGES</a:t>
            </a:r>
          </a:p>
          <a:p>
            <a:pPr algn="l">
              <a:spcBef>
                <a:spcPts val="300"/>
              </a:spcBef>
              <a:defRPr sz="850">
                <a:solidFill>
                  <a:srgbClr val="526174"/>
                </a:solidFill>
                <a:latin typeface="Segoe UI"/>
              </a:defRPr>
            </a:pPr>
            <a:r>
              <a:rPr sz="1200"/>
              <a:t>Visual symptom attachment analyzed alongside patient clinical history.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51760"/>
            <a:ext cx="10728655" cy="411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F766E"/>
                </a:solidFill>
                <a:latin typeface="Segoe UI"/>
              </a:defRPr>
            </a:pPr>
            <a:r>
              <a:t>  Text + Voice + Reports + Images  ──▶  Input Processing  ──▶  Unified Clinical Context  ──▶  AI Safety Pipeline  ──▶  Patient Response  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0"/>
            <a:ext cx="521208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t"/>
          <a:lstStyle/>
          <a:p>
            <a:pPr algn="l">
              <a:defRPr sz="1150" b="1">
                <a:solidFill>
                  <a:srgbClr val="0F172A"/>
                </a:solidFill>
                <a:latin typeface="Segoe UI"/>
              </a:defRPr>
            </a:pPr>
            <a:r>
              <a:rPr sz="1600" dirty="0"/>
              <a:t>Supported Multilingual Coverage:</a:t>
            </a:r>
          </a:p>
          <a:p>
            <a:pPr algn="l">
              <a:spcBef>
                <a:spcPts val="400"/>
              </a:spcBef>
              <a:spcAft>
                <a:spcPts val="1000"/>
              </a:spcAft>
              <a:defRPr sz="900">
                <a:solidFill>
                  <a:srgbClr val="526174"/>
                </a:solidFill>
                <a:latin typeface="Segoe UI"/>
              </a:defRPr>
            </a:pPr>
            <a:r>
              <a:rPr sz="1600" dirty="0"/>
              <a:t>• Core Verified Languages: English, Hindi, Odia</a:t>
            </a:r>
            <a:br>
              <a:rPr sz="1600" dirty="0"/>
            </a:br>
            <a:r>
              <a:rPr sz="1600" dirty="0"/>
              <a:t>• Multilingual Pipeline Ready: Bengali, Telugu, Tamil, Kannada, Malayalam, Marathi, Gujarati, Punjabi</a:t>
            </a:r>
            <a:br>
              <a:rPr sz="1600" dirty="0"/>
            </a:br>
            <a:r>
              <a:rPr sz="1600" dirty="0"/>
              <a:t>• Features: Mixed-language intake &amp; automatic language detection</a:t>
            </a:r>
          </a:p>
          <a:p>
            <a:pPr algn="l">
              <a:defRPr sz="1050" b="1">
                <a:solidFill>
                  <a:srgbClr val="0F766E"/>
                </a:solidFill>
                <a:latin typeface="Segoe UI"/>
              </a:defRPr>
            </a:pPr>
            <a:r>
              <a:rPr sz="1600" dirty="0"/>
              <a:t>💬  "Language changes — clinical safety does not."</a:t>
            </a:r>
          </a:p>
        </p:txBody>
      </p:sp>
      <p:pic>
        <p:nvPicPr>
          <p:cNvPr id="12" name="Picture 11" descr="04_patient_intake_multi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3200400"/>
            <a:ext cx="5242255" cy="32918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4389120" cy="292608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l">
              <a:defRPr sz="950" b="1">
                <a:solidFill>
                  <a:srgbClr val="0F766E"/>
                </a:solidFill>
                <a:latin typeface="Segoe UI"/>
              </a:defRPr>
            </a:pPr>
            <a:r>
              <a:t>  CLINICAL WORKFLOW &amp; RBAC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347472"/>
            <a:ext cx="109728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06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63524"/>
            <a:ext cx="10728655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Segoe UI"/>
              </a:defRPr>
            </a:pPr>
            <a:r>
              <a:t>From Patient Intake to Hospital Clinical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4846320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t"/>
          <a:lstStyle/>
          <a:p>
            <a:pPr algn="l">
              <a:defRPr sz="1000" b="1">
                <a:solidFill>
                  <a:srgbClr val="13B8A6"/>
                </a:solidFill>
                <a:latin typeface="Segoe UI"/>
              </a:defRPr>
            </a:pPr>
            <a:r>
              <a:rPr sz="1200"/>
              <a:t>PATIENT INTAKE</a:t>
            </a:r>
          </a:p>
          <a:p>
            <a:pPr algn="l">
              <a:defRPr sz="850">
                <a:solidFill>
                  <a:srgbClr val="526174"/>
                </a:solidFill>
                <a:latin typeface="Segoe UI"/>
              </a:defRPr>
            </a:pPr>
            <a:r>
              <a:rPr sz="1200"/>
              <a:t>Submits multimodal symptoms &amp; history via secure portal.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03120"/>
            <a:ext cx="4846320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t"/>
          <a:lstStyle/>
          <a:p>
            <a:pPr algn="l">
              <a:defRPr sz="1000" b="1">
                <a:solidFill>
                  <a:srgbClr val="0EA5E9"/>
                </a:solidFill>
                <a:latin typeface="Segoe UI"/>
              </a:defRPr>
            </a:pPr>
            <a:r>
              <a:rPr sz="1200"/>
              <a:t>AI-ASSISTED TRIAGE</a:t>
            </a:r>
          </a:p>
          <a:p>
            <a:pPr algn="l">
              <a:defRPr sz="850">
                <a:solidFill>
                  <a:srgbClr val="526174"/>
                </a:solidFill>
                <a:latin typeface="Segoe UI"/>
              </a:defRPr>
            </a:pPr>
            <a:r>
              <a:rPr sz="1200"/>
              <a:t>Extracts timeline, matches red-flag rules, computes urgency level.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71800"/>
            <a:ext cx="4846320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t"/>
          <a:lstStyle/>
          <a:p>
            <a:pPr algn="l">
              <a:defRPr sz="1000" b="1">
                <a:solidFill>
                  <a:srgbClr val="10B981"/>
                </a:solidFill>
                <a:latin typeface="Segoe UI"/>
              </a:defRPr>
            </a:pPr>
            <a:r>
              <a:rPr sz="1200"/>
              <a:t>NURSE QUEUE &amp; BEDSIDE</a:t>
            </a:r>
          </a:p>
          <a:p>
            <a:pPr algn="l">
              <a:defRPr sz="850">
                <a:solidFill>
                  <a:srgbClr val="526174"/>
                </a:solidFill>
                <a:latin typeface="Segoe UI"/>
              </a:defRPr>
            </a:pPr>
            <a:r>
              <a:rPr sz="1200"/>
              <a:t>Nurse reviews prioritized list and records live vitals (BP, SpO2).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4846320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t"/>
          <a:lstStyle/>
          <a:p>
            <a:pPr algn="l">
              <a:defRPr sz="1000" b="1">
                <a:solidFill>
                  <a:srgbClr val="D97706"/>
                </a:solidFill>
                <a:latin typeface="Segoe UI"/>
              </a:defRPr>
            </a:pPr>
            <a:r>
              <a:rPr sz="1200" dirty="0"/>
              <a:t>MEDICAL REVIEWER (MD)</a:t>
            </a:r>
          </a:p>
          <a:p>
            <a:pPr algn="l">
              <a:defRPr sz="850">
                <a:solidFill>
                  <a:srgbClr val="526174"/>
                </a:solidFill>
                <a:latin typeface="Segoe UI"/>
              </a:defRPr>
            </a:pPr>
            <a:r>
              <a:rPr sz="1200" dirty="0"/>
              <a:t>Physician evaluates evidence, confirms triage, or executes override.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09160"/>
            <a:ext cx="4846320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bIns="91440" rtlCol="0" anchor="t"/>
          <a:lstStyle/>
          <a:p>
            <a:pPr algn="l">
              <a:defRPr sz="1000" b="1">
                <a:solidFill>
                  <a:srgbClr val="A855F7"/>
                </a:solidFill>
                <a:latin typeface="Segoe UI"/>
              </a:defRPr>
            </a:pPr>
            <a:r>
              <a:rPr sz="1200" dirty="0"/>
              <a:t>REFERRAL &amp; CARE PATH</a:t>
            </a:r>
          </a:p>
          <a:p>
            <a:pPr algn="l">
              <a:defRPr sz="850">
                <a:solidFill>
                  <a:srgbClr val="526174"/>
                </a:solidFill>
                <a:latin typeface="Segoe UI"/>
              </a:defRPr>
            </a:pPr>
            <a:r>
              <a:rPr sz="1200" dirty="0"/>
              <a:t>Generates institutional referral PDF or schedules direct consult.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623560"/>
            <a:ext cx="4846320" cy="868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t"/>
          <a:lstStyle/>
          <a:p>
            <a:pPr algn="l">
              <a:defRPr sz="950" b="1">
                <a:solidFill>
                  <a:srgbClr val="0F766E"/>
                </a:solidFill>
                <a:latin typeface="Segoe UI"/>
              </a:defRPr>
            </a:pPr>
            <a:r>
              <a:rPr sz="1200"/>
              <a:t>AI ROLE:  Assists • Structures • Flags • Summarizes</a:t>
            </a:r>
          </a:p>
          <a:p>
            <a:pPr algn="l">
              <a:spcBef>
                <a:spcPts val="300"/>
              </a:spcBef>
              <a:defRPr sz="950" b="1">
                <a:solidFill>
                  <a:srgbClr val="0F172A"/>
                </a:solidFill>
                <a:latin typeface="Segoe UI"/>
              </a:defRPr>
            </a:pPr>
            <a:r>
              <a:rPr sz="1200"/>
              <a:t>CLINICIAN ROLE:  Reviews • Overrides • Prescribes • Decides</a:t>
            </a:r>
          </a:p>
        </p:txBody>
      </p:sp>
      <p:pic>
        <p:nvPicPr>
          <p:cNvPr id="12" name="Picture 11" descr="06_nurse_triage_que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234440"/>
            <a:ext cx="5653735" cy="25146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3" name="Picture 12" descr="07_nurse_bedside_assess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3931920"/>
            <a:ext cx="5653735" cy="25603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4389120" cy="292608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l">
              <a:defRPr sz="950" b="1">
                <a:solidFill>
                  <a:srgbClr val="0F766E"/>
                </a:solidFill>
                <a:latin typeface="Segoe UI"/>
              </a:defRPr>
            </a:pPr>
            <a:r>
              <a:t>  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347472"/>
            <a:ext cx="109728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07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04672"/>
            <a:ext cx="10728655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Segoe UI"/>
              </a:defRPr>
            </a:pPr>
            <a:r>
              <a:rPr dirty="0"/>
              <a:t>System Architecture: Robust Full-Stack Engineering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2523744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/>
          <a:lstStyle/>
          <a:p>
            <a:pPr algn="l">
              <a:defRPr sz="1050" b="1">
                <a:solidFill>
                  <a:srgbClr val="13B8A6"/>
                </a:solidFill>
                <a:latin typeface="Segoe UI"/>
              </a:defRPr>
            </a:pPr>
            <a:r>
              <a:rPr sz="1400" dirty="0"/>
              <a:t>1. FRONTEND LAYER</a:t>
            </a:r>
          </a:p>
          <a:p>
            <a:pPr algn="l">
              <a:spcAft>
                <a:spcPts val="800"/>
              </a:spcAft>
              <a:defRPr sz="950" b="1">
                <a:solidFill>
                  <a:srgbClr val="0F172A"/>
                </a:solidFill>
                <a:latin typeface="Segoe UI"/>
              </a:defRPr>
            </a:pPr>
            <a:r>
              <a:rPr sz="1400" dirty="0"/>
              <a:t>React 19 + TypeScript + Vite</a:t>
            </a:r>
          </a:p>
          <a:p>
            <a:pPr algn="l">
              <a:spcBef>
                <a:spcPts val="400"/>
              </a:spcBef>
              <a:defRPr sz="850" b="1">
                <a:solidFill>
                  <a:srgbClr val="0F172A"/>
                </a:solidFill>
                <a:latin typeface="Segoe UI"/>
              </a:defRPr>
            </a:pPr>
            <a:r>
              <a:rPr sz="1400" dirty="0"/>
              <a:t>• Portals: </a:t>
            </a:r>
            <a:r>
              <a:rPr sz="1400" b="0" dirty="0">
                <a:solidFill>
                  <a:srgbClr val="526174"/>
                </a:solidFill>
                <a:latin typeface="Segoe UI"/>
              </a:rPr>
              <a:t>Role-based routing for Patient, Nurse, Doctor, Admin</a:t>
            </a:r>
          </a:p>
          <a:p>
            <a:pPr algn="l">
              <a:spcBef>
                <a:spcPts val="400"/>
              </a:spcBef>
              <a:defRPr sz="850" b="1">
                <a:solidFill>
                  <a:srgbClr val="0F172A"/>
                </a:solidFill>
                <a:latin typeface="Segoe UI"/>
              </a:defRPr>
            </a:pPr>
            <a:r>
              <a:rPr sz="1400" dirty="0"/>
              <a:t>• UI Design: </a:t>
            </a:r>
            <a:r>
              <a:rPr sz="1400" b="0" dirty="0" err="1">
                <a:solidFill>
                  <a:srgbClr val="526174"/>
                </a:solidFill>
                <a:latin typeface="Segoe UI"/>
              </a:rPr>
              <a:t>Glassmorphic</a:t>
            </a:r>
            <a:r>
              <a:rPr sz="1400" b="0" dirty="0">
                <a:solidFill>
                  <a:srgbClr val="526174"/>
                </a:solidFill>
                <a:latin typeface="Segoe UI"/>
              </a:rPr>
              <a:t> clinical command tokens &amp; scroll reveals</a:t>
            </a:r>
          </a:p>
          <a:p>
            <a:pPr algn="l">
              <a:spcBef>
                <a:spcPts val="400"/>
              </a:spcBef>
              <a:defRPr sz="850" b="1">
                <a:solidFill>
                  <a:srgbClr val="0F172A"/>
                </a:solidFill>
                <a:latin typeface="Segoe UI"/>
              </a:defRPr>
            </a:pPr>
            <a:r>
              <a:rPr sz="1400" dirty="0"/>
              <a:t>• Live Views: </a:t>
            </a:r>
            <a:r>
              <a:rPr sz="1400" b="0" dirty="0">
                <a:solidFill>
                  <a:srgbClr val="526174"/>
                </a:solidFill>
                <a:latin typeface="Segoe UI"/>
              </a:rPr>
              <a:t>Real-time prioritized triage queue &amp; bedside entry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234440"/>
            <a:ext cx="2523744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/>
          <a:lstStyle/>
          <a:p>
            <a:pPr algn="l">
              <a:defRPr sz="1050" b="1">
                <a:solidFill>
                  <a:srgbClr val="0EA5E9"/>
                </a:solidFill>
                <a:latin typeface="Segoe UI"/>
              </a:defRPr>
            </a:pPr>
            <a:r>
              <a:rPr sz="1400"/>
              <a:t>2. BACKEND API</a:t>
            </a:r>
          </a:p>
          <a:p>
            <a:pPr algn="l">
              <a:spcAft>
                <a:spcPts val="800"/>
              </a:spcAft>
              <a:defRPr sz="950" b="1">
                <a:solidFill>
                  <a:srgbClr val="0F172A"/>
                </a:solidFill>
                <a:latin typeface="Segoe UI"/>
              </a:defRPr>
            </a:pPr>
            <a:r>
              <a:rPr sz="1400"/>
              <a:t>FastAPI + Python 3.12 (Async)</a:t>
            </a:r>
          </a:p>
          <a:p>
            <a:pPr algn="l">
              <a:spcBef>
                <a:spcPts val="400"/>
              </a:spcBef>
              <a:defRPr sz="850" b="1">
                <a:solidFill>
                  <a:srgbClr val="0F172A"/>
                </a:solidFill>
                <a:latin typeface="Segoe UI"/>
              </a:defRPr>
            </a:pPr>
            <a:r>
              <a:rPr sz="1400"/>
              <a:t>• Endpoints: </a:t>
            </a:r>
            <a:r>
              <a:rPr sz="1400" b="0">
                <a:solidFill>
                  <a:srgbClr val="526174"/>
                </a:solidFill>
                <a:latin typeface="Segoe UI"/>
              </a:rPr>
              <a:t>RESTful APIs with strict Pydantic schema validation</a:t>
            </a:r>
          </a:p>
          <a:p>
            <a:pPr algn="l">
              <a:spcBef>
                <a:spcPts val="400"/>
              </a:spcBef>
              <a:defRPr sz="850" b="1">
                <a:solidFill>
                  <a:srgbClr val="0F172A"/>
                </a:solidFill>
                <a:latin typeface="Segoe UI"/>
              </a:defRPr>
            </a:pPr>
            <a:r>
              <a:rPr sz="1400"/>
              <a:t>• Security: </a:t>
            </a:r>
            <a:r>
              <a:rPr sz="1400" b="0">
                <a:solidFill>
                  <a:srgbClr val="526174"/>
                </a:solidFill>
                <a:latin typeface="Segoe UI"/>
              </a:rPr>
              <a:t>JWT token authentication (HS256) &amp; BCrypt hashing</a:t>
            </a:r>
          </a:p>
          <a:p>
            <a:pPr algn="l">
              <a:spcBef>
                <a:spcPts val="400"/>
              </a:spcBef>
              <a:defRPr sz="850" b="1">
                <a:solidFill>
                  <a:srgbClr val="0F172A"/>
                </a:solidFill>
                <a:latin typeface="Segoe UI"/>
              </a:defRPr>
            </a:pPr>
            <a:r>
              <a:rPr sz="1400"/>
              <a:t>• PDF Output: </a:t>
            </a:r>
            <a:r>
              <a:rPr sz="1400" b="0">
                <a:solidFill>
                  <a:srgbClr val="526174"/>
                </a:solidFill>
                <a:latin typeface="Segoe UI"/>
              </a:rPr>
              <a:t>Binary ReportLab referral letter generation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234440"/>
            <a:ext cx="2523744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/>
          <a:lstStyle/>
          <a:p>
            <a:pPr algn="l">
              <a:defRPr sz="1050" b="1">
                <a:solidFill>
                  <a:srgbClr val="10B981"/>
                </a:solidFill>
                <a:latin typeface="Segoe UI"/>
              </a:defRPr>
            </a:pPr>
            <a:r>
              <a:rPr sz="1400"/>
              <a:t>3. AI &amp; SAFETY ENGINE</a:t>
            </a:r>
          </a:p>
          <a:p>
            <a:pPr algn="l">
              <a:spcAft>
                <a:spcPts val="800"/>
              </a:spcAft>
              <a:defRPr sz="950" b="1">
                <a:solidFill>
                  <a:srgbClr val="0F172A"/>
                </a:solidFill>
                <a:latin typeface="Segoe UI"/>
              </a:defRPr>
            </a:pPr>
            <a:r>
              <a:rPr sz="1400"/>
              <a:t>Provider Abstraction Layer</a:t>
            </a:r>
          </a:p>
          <a:p>
            <a:pPr algn="l">
              <a:spcBef>
                <a:spcPts val="400"/>
              </a:spcBef>
              <a:defRPr sz="850" b="1">
                <a:solidFill>
                  <a:srgbClr val="0F172A"/>
                </a:solidFill>
                <a:latin typeface="Segoe UI"/>
              </a:defRPr>
            </a:pPr>
            <a:r>
              <a:rPr sz="1400"/>
              <a:t>• LLM Core: </a:t>
            </a:r>
            <a:r>
              <a:rPr sz="1400" b="0">
                <a:solidFill>
                  <a:srgbClr val="526174"/>
                </a:solidFill>
                <a:latin typeface="Segoe UI"/>
              </a:rPr>
              <a:t>Structured extraction of symptoms &amp; timeline</a:t>
            </a:r>
          </a:p>
          <a:p>
            <a:pPr algn="l">
              <a:spcBef>
                <a:spcPts val="400"/>
              </a:spcBef>
              <a:defRPr sz="850" b="1">
                <a:solidFill>
                  <a:srgbClr val="0F172A"/>
                </a:solidFill>
                <a:latin typeface="Segoe UI"/>
              </a:defRPr>
            </a:pPr>
            <a:r>
              <a:rPr sz="1400"/>
              <a:t>• Safety Rules: </a:t>
            </a:r>
            <a:r>
              <a:rPr sz="1400" b="0">
                <a:solidFill>
                  <a:srgbClr val="526174"/>
                </a:solidFill>
                <a:latin typeface="Segoe UI"/>
              </a:rPr>
              <a:t>Hardcoded deterministic emergency red-flag engine</a:t>
            </a:r>
          </a:p>
          <a:p>
            <a:pPr algn="l">
              <a:spcBef>
                <a:spcPts val="400"/>
              </a:spcBef>
              <a:defRPr sz="850" b="1">
                <a:solidFill>
                  <a:srgbClr val="0F172A"/>
                </a:solidFill>
                <a:latin typeface="Segoe UI"/>
              </a:defRPr>
            </a:pPr>
            <a:r>
              <a:rPr sz="1400"/>
              <a:t>• Fallback: </a:t>
            </a:r>
            <a:r>
              <a:rPr sz="1400" b="0">
                <a:solidFill>
                  <a:srgbClr val="526174"/>
                </a:solidFill>
                <a:latin typeface="Segoe UI"/>
              </a:rPr>
              <a:t>Zero-cloud offline deterministic fallback pipeline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1234440"/>
            <a:ext cx="2523744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/>
          <a:lstStyle/>
          <a:p>
            <a:pPr algn="l">
              <a:defRPr sz="1050" b="1">
                <a:solidFill>
                  <a:srgbClr val="A855F7"/>
                </a:solidFill>
                <a:latin typeface="Segoe UI"/>
              </a:defRPr>
            </a:pPr>
            <a:r>
              <a:rPr sz="1400" dirty="0"/>
              <a:t>4. DATABASE &amp; AUDIT</a:t>
            </a:r>
          </a:p>
          <a:p>
            <a:pPr algn="l">
              <a:spcAft>
                <a:spcPts val="800"/>
              </a:spcAft>
              <a:defRPr sz="950" b="1">
                <a:solidFill>
                  <a:srgbClr val="0F172A"/>
                </a:solidFill>
                <a:latin typeface="Segoe UI"/>
              </a:defRPr>
            </a:pPr>
            <a:r>
              <a:rPr sz="1400" dirty="0"/>
              <a:t>SQLite / PostgreSQL Ready</a:t>
            </a:r>
          </a:p>
          <a:p>
            <a:pPr algn="l">
              <a:spcBef>
                <a:spcPts val="400"/>
              </a:spcBef>
              <a:defRPr sz="850" b="1">
                <a:solidFill>
                  <a:srgbClr val="0F172A"/>
                </a:solidFill>
                <a:latin typeface="Segoe UI"/>
              </a:defRPr>
            </a:pPr>
            <a:r>
              <a:rPr sz="1400" dirty="0"/>
              <a:t>• ORM Layer: </a:t>
            </a:r>
            <a:r>
              <a:rPr sz="1400" b="0" dirty="0">
                <a:solidFill>
                  <a:srgbClr val="526174"/>
                </a:solidFill>
                <a:latin typeface="Segoe UI"/>
              </a:rPr>
              <a:t>Async </a:t>
            </a:r>
            <a:r>
              <a:rPr sz="1400" b="0" dirty="0" err="1">
                <a:solidFill>
                  <a:srgbClr val="526174"/>
                </a:solidFill>
                <a:latin typeface="Segoe UI"/>
              </a:rPr>
              <a:t>SQLAlchemy</a:t>
            </a:r>
            <a:r>
              <a:rPr sz="1400" b="0" dirty="0">
                <a:solidFill>
                  <a:srgbClr val="526174"/>
                </a:solidFill>
                <a:latin typeface="Segoe UI"/>
              </a:rPr>
              <a:t> with full relational model</a:t>
            </a:r>
          </a:p>
          <a:p>
            <a:pPr algn="l">
              <a:spcBef>
                <a:spcPts val="400"/>
              </a:spcBef>
              <a:defRPr sz="850" b="1">
                <a:solidFill>
                  <a:srgbClr val="0F172A"/>
                </a:solidFill>
                <a:latin typeface="Segoe UI"/>
              </a:defRPr>
            </a:pPr>
            <a:r>
              <a:rPr sz="1400" dirty="0"/>
              <a:t>• Clinical Store: </a:t>
            </a:r>
            <a:r>
              <a:rPr sz="1400" b="0" dirty="0">
                <a:solidFill>
                  <a:srgbClr val="526174"/>
                </a:solidFill>
                <a:latin typeface="Segoe UI"/>
              </a:rPr>
              <a:t>Persistent cases, consents, reviews, and vitals</a:t>
            </a:r>
          </a:p>
          <a:p>
            <a:pPr algn="l">
              <a:spcBef>
                <a:spcPts val="400"/>
              </a:spcBef>
              <a:defRPr sz="850" b="1">
                <a:solidFill>
                  <a:srgbClr val="0F172A"/>
                </a:solidFill>
                <a:latin typeface="Segoe UI"/>
              </a:defRPr>
            </a:pPr>
            <a:r>
              <a:rPr sz="1400" dirty="0"/>
              <a:t>• Audit Trail: </a:t>
            </a:r>
            <a:r>
              <a:rPr sz="1400" b="0" dirty="0">
                <a:solidFill>
                  <a:srgbClr val="526174"/>
                </a:solidFill>
                <a:latin typeface="Segoe UI"/>
              </a:rPr>
              <a:t>Immutable audit log ensuring total provenance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303520"/>
            <a:ext cx="10728655" cy="11887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228600" bIns="164592" rtlCol="0" anchor="t"/>
          <a:lstStyle/>
          <a:p>
            <a:pPr algn="l">
              <a:defRPr sz="1000" b="1">
                <a:solidFill>
                  <a:srgbClr val="0F766E"/>
                </a:solidFill>
                <a:latin typeface="Segoe UI"/>
              </a:defRPr>
            </a:pPr>
            <a:r>
              <a:rPr sz="1400"/>
              <a:t>COMPLETE SYSTEM DATA FLOW:</a:t>
            </a:r>
          </a:p>
          <a:p>
            <a:pPr algn="l">
              <a:spcBef>
                <a:spcPts val="400"/>
              </a:spcBef>
              <a:defRPr sz="950" b="1">
                <a:solidFill>
                  <a:srgbClr val="0F172A"/>
                </a:solidFill>
                <a:latin typeface="Segoe UI"/>
              </a:defRPr>
            </a:pPr>
            <a:r>
              <a:rPr sz="1400"/>
              <a:t>Patient / Staff Browser  ──▶  React Frontend  ──▶  FastAPI Endpoints  ──▶  AI Safety Pipeline  ──▶  SQLite / PostgreSQL  ──▶  Immutable Audit Trail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4389120" cy="292608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l">
              <a:defRPr sz="950" b="1">
                <a:solidFill>
                  <a:srgbClr val="0F766E"/>
                </a:solidFill>
                <a:latin typeface="Segoe UI"/>
              </a:defRPr>
            </a:pPr>
            <a:r>
              <a:t>  SAFETY &amp;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347472"/>
            <a:ext cx="109728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08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Segoe UI"/>
              </a:defRPr>
            </a:pPr>
            <a:r>
              <a:t>Safety by Design: Human Oversight &amp; Provenance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228600" bIns="164592" rtlCol="0" anchor="t"/>
          <a:lstStyle/>
          <a:p>
            <a:pPr algn="l">
              <a:defRPr sz="1100" b="1">
                <a:solidFill>
                  <a:srgbClr val="0F172A"/>
                </a:solidFill>
                <a:latin typeface="Segoe UI"/>
              </a:defRPr>
            </a:pPr>
            <a:r>
              <a:rPr sz="1200"/>
              <a:t>1. Clinician Supervision &amp; Override</a:t>
            </a:r>
          </a:p>
          <a:p>
            <a:pPr algn="l">
              <a:spcBef>
                <a:spcPts val="300"/>
              </a:spcBef>
              <a:defRPr sz="950">
                <a:solidFill>
                  <a:srgbClr val="526174"/>
                </a:solidFill>
                <a:latin typeface="Segoe UI"/>
              </a:defRPr>
            </a:pPr>
            <a:r>
              <a:rPr sz="1200"/>
              <a:t>Physicians retain complete clinical authority to confirm, modify, or override AI triage suggestions with mandatory clinical rationale notes.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14600"/>
            <a:ext cx="5212080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228600" bIns="164592" rtlCol="0" anchor="t"/>
          <a:lstStyle/>
          <a:p>
            <a:pPr algn="l">
              <a:defRPr sz="1100" b="1">
                <a:solidFill>
                  <a:srgbClr val="0F172A"/>
                </a:solidFill>
                <a:latin typeface="Segoe UI"/>
              </a:defRPr>
            </a:pPr>
            <a:r>
              <a:rPr sz="1200" dirty="0"/>
              <a:t>2. Deterministic Red-Flag Rules</a:t>
            </a:r>
          </a:p>
          <a:p>
            <a:pPr algn="l">
              <a:spcBef>
                <a:spcPts val="300"/>
              </a:spcBef>
              <a:defRPr sz="950">
                <a:solidFill>
                  <a:srgbClr val="526174"/>
                </a:solidFill>
                <a:latin typeface="Segoe UI"/>
              </a:defRPr>
            </a:pPr>
            <a:r>
              <a:rPr sz="1200" dirty="0"/>
              <a:t>Hardcoded medical safety rules immediately intercept acute cardiorespiratory and critical red flags, bypassing generic conversational delays.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94760"/>
            <a:ext cx="5212080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228600" bIns="164592" rtlCol="0" anchor="t"/>
          <a:lstStyle/>
          <a:p>
            <a:pPr algn="l">
              <a:defRPr sz="1100" b="1">
                <a:solidFill>
                  <a:srgbClr val="0F172A"/>
                </a:solidFill>
                <a:latin typeface="Segoe UI"/>
              </a:defRPr>
            </a:pPr>
            <a:r>
              <a:rPr sz="1200" dirty="0"/>
              <a:t>3. Role-Based Access &amp; Auditability</a:t>
            </a:r>
          </a:p>
          <a:p>
            <a:pPr algn="l">
              <a:spcBef>
                <a:spcPts val="300"/>
              </a:spcBef>
              <a:defRPr sz="950">
                <a:solidFill>
                  <a:srgbClr val="526174"/>
                </a:solidFill>
                <a:latin typeface="Segoe UI"/>
              </a:defRPr>
            </a:pPr>
            <a:r>
              <a:rPr sz="1200" dirty="0"/>
              <a:t>Strict JWT-based RBAC partitions Patient self-intake from Nurse and Doctor workflows. All events are recorded in an immutable audit trail.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5212080" cy="1371600"/>
          </a:xfrm>
          <a:prstGeom prst="roundRect">
            <a:avLst/>
          </a:prstGeom>
          <a:solidFill>
            <a:srgbClr val="CCFBF1"/>
          </a:solidFill>
          <a:ln w="15240"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t"/>
          <a:lstStyle/>
          <a:p>
            <a:pPr algn="l">
              <a:defRPr sz="1000" b="1">
                <a:solidFill>
                  <a:srgbClr val="0F766E"/>
                </a:solidFill>
                <a:latin typeface="Segoe UI"/>
              </a:defRPr>
            </a:pPr>
            <a:r>
              <a:rPr sz="1200"/>
              <a:t>CORE SAFETY PRINCIPLE:</a:t>
            </a:r>
          </a:p>
          <a:p>
            <a:pPr algn="l">
              <a:spcBef>
                <a:spcPts val="400"/>
              </a:spcBef>
              <a:defRPr sz="1000" b="1">
                <a:solidFill>
                  <a:srgbClr val="0F172A"/>
                </a:solidFill>
                <a:latin typeface="Segoe UI"/>
              </a:defRPr>
            </a:pPr>
            <a:r>
              <a:rPr sz="1200"/>
              <a:t>"AI recommendations remain advisory; clinical decisions remain with qualified healthcare professionals."</a:t>
            </a:r>
          </a:p>
        </p:txBody>
      </p:sp>
      <p:pic>
        <p:nvPicPr>
          <p:cNvPr id="10" name="Picture 9" descr="09_institutional_audit_tr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34440"/>
            <a:ext cx="5242255" cy="25603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1" name="Picture 10" descr="10_trust_center_govern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931920"/>
            <a:ext cx="5242255" cy="25603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4389120" cy="292608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l">
              <a:defRPr sz="950" b="1">
                <a:solidFill>
                  <a:srgbClr val="0F766E"/>
                </a:solidFill>
                <a:latin typeface="Segoe UI"/>
              </a:defRPr>
            </a:pPr>
            <a:r>
              <a:t>  IMPACT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347472"/>
            <a:ext cx="109728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09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63524"/>
            <a:ext cx="10728655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Segoe UI"/>
              </a:defRPr>
            </a:pPr>
            <a:r>
              <a:t>Validation, Expected Impact &amp; Project Roadmap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338328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t"/>
          <a:lstStyle/>
          <a:p>
            <a:pPr algn="l">
              <a:spcAft>
                <a:spcPts val="1000"/>
              </a:spcAft>
              <a:defRPr sz="1100" b="1">
                <a:solidFill>
                  <a:srgbClr val="0F766E"/>
                </a:solidFill>
                <a:latin typeface="Segoe UI"/>
              </a:defRPr>
            </a:pPr>
            <a:r>
              <a:rPr sz="1400" dirty="0"/>
              <a:t>SECTION 1 — EXPECTED IMPACT</a:t>
            </a:r>
          </a:p>
          <a:p>
            <a:pPr algn="l">
              <a:spcBef>
                <a:spcPts val="600"/>
              </a:spcBef>
              <a:defRPr sz="950" b="1">
                <a:solidFill>
                  <a:srgbClr val="0F172A"/>
                </a:solidFill>
                <a:latin typeface="Segoe UI"/>
              </a:defRPr>
            </a:pPr>
            <a:r>
              <a:rPr sz="1400" dirty="0"/>
              <a:t>✔ Faster Patient Structuring: </a:t>
            </a:r>
            <a:r>
              <a:rPr sz="1400" b="0" dirty="0">
                <a:solidFill>
                  <a:srgbClr val="526174"/>
                </a:solidFill>
                <a:latin typeface="Segoe UI"/>
              </a:rPr>
              <a:t>Rapidly organizes unstructured complaints into clinical timelines.</a:t>
            </a:r>
          </a:p>
          <a:p>
            <a:pPr algn="l">
              <a:spcBef>
                <a:spcPts val="600"/>
              </a:spcBef>
              <a:defRPr sz="950" b="1">
                <a:solidFill>
                  <a:srgbClr val="0F172A"/>
                </a:solidFill>
                <a:latin typeface="Segoe UI"/>
              </a:defRPr>
            </a:pPr>
            <a:r>
              <a:rPr sz="1400" dirty="0"/>
              <a:t>✔ Early Red-Flag Detection: </a:t>
            </a:r>
            <a:r>
              <a:rPr sz="1400" b="0" dirty="0">
                <a:solidFill>
                  <a:srgbClr val="526174"/>
                </a:solidFill>
                <a:latin typeface="Segoe UI"/>
              </a:rPr>
              <a:t>Prioritizes cardiorespiratory emergencies before triage bottlenecks.</a:t>
            </a:r>
          </a:p>
          <a:p>
            <a:pPr algn="l">
              <a:spcBef>
                <a:spcPts val="600"/>
              </a:spcBef>
              <a:defRPr sz="950" b="1">
                <a:solidFill>
                  <a:srgbClr val="0F172A"/>
                </a:solidFill>
                <a:latin typeface="Segoe UI"/>
              </a:defRPr>
            </a:pPr>
            <a:r>
              <a:rPr sz="1400" dirty="0"/>
              <a:t>✔ Multimodal Flexibility: </a:t>
            </a:r>
            <a:r>
              <a:rPr sz="1400" b="0" dirty="0">
                <a:solidFill>
                  <a:srgbClr val="526174"/>
                </a:solidFill>
                <a:latin typeface="Segoe UI"/>
              </a:rPr>
              <a:t>Accommodates text, voice, and medical lab reports.</a:t>
            </a:r>
          </a:p>
          <a:p>
            <a:pPr algn="l">
              <a:spcBef>
                <a:spcPts val="600"/>
              </a:spcBef>
              <a:defRPr sz="950" b="1">
                <a:solidFill>
                  <a:srgbClr val="0F172A"/>
                </a:solidFill>
                <a:latin typeface="Segoe UI"/>
              </a:defRPr>
            </a:pPr>
            <a:r>
              <a:rPr sz="1400" dirty="0"/>
              <a:t>✔ Seamless Clinical Handoff: </a:t>
            </a:r>
            <a:r>
              <a:rPr sz="1400" b="0" dirty="0">
                <a:solidFill>
                  <a:srgbClr val="526174"/>
                </a:solidFill>
                <a:latin typeface="Segoe UI"/>
              </a:rPr>
              <a:t>Smooth data flow across Patient, Nurse, and Doctor.</a:t>
            </a:r>
          </a:p>
          <a:p>
            <a:pPr algn="l">
              <a:spcBef>
                <a:spcPts val="600"/>
              </a:spcBef>
              <a:defRPr sz="950" b="1">
                <a:solidFill>
                  <a:srgbClr val="0F172A"/>
                </a:solidFill>
                <a:latin typeface="Segoe UI"/>
              </a:defRPr>
            </a:pPr>
            <a:r>
              <a:rPr sz="1400" dirty="0"/>
              <a:t>✔ Complete Traceability: </a:t>
            </a:r>
            <a:r>
              <a:rPr sz="1400" b="0" dirty="0">
                <a:solidFill>
                  <a:srgbClr val="526174"/>
                </a:solidFill>
                <a:latin typeface="Segoe UI"/>
              </a:rPr>
              <a:t>Full audit history with clinician sign-off.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234440"/>
            <a:ext cx="338328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t"/>
          <a:lstStyle/>
          <a:p>
            <a:pPr algn="l">
              <a:spcAft>
                <a:spcPts val="600"/>
              </a:spcAft>
              <a:defRPr sz="1100" b="1">
                <a:solidFill>
                  <a:srgbClr val="10B981"/>
                </a:solidFill>
                <a:latin typeface="Segoe UI"/>
              </a:defRPr>
            </a:pPr>
            <a:r>
              <a:rPr sz="1400"/>
              <a:t>SECTION 2 — REAL VALIDATION</a:t>
            </a:r>
          </a:p>
          <a:p>
            <a:pPr algn="l">
              <a:spcAft>
                <a:spcPts val="800"/>
              </a:spcAft>
              <a:defRPr sz="950" b="1">
                <a:solidFill>
                  <a:srgbClr val="0F172A"/>
                </a:solidFill>
                <a:latin typeface="Segoe UI"/>
              </a:defRPr>
            </a:pPr>
            <a:r>
              <a:rPr sz="1400"/>
              <a:t>Reported Automated Test Results:</a:t>
            </a:r>
          </a:p>
          <a:p>
            <a:pPr algn="l">
              <a:spcBef>
                <a:spcPts val="600"/>
              </a:spcBef>
              <a:defRPr sz="1000" b="1">
                <a:solidFill>
                  <a:srgbClr val="0F766E"/>
                </a:solidFill>
                <a:latin typeface="Segoe UI"/>
              </a:defRPr>
            </a:pPr>
            <a:r>
              <a:rPr sz="1400"/>
              <a:t>• 32: </a:t>
            </a:r>
            <a:r>
              <a:rPr sz="1400" b="0">
                <a:solidFill>
                  <a:srgbClr val="526174"/>
                </a:solidFill>
                <a:latin typeface="Segoe UI"/>
              </a:rPr>
              <a:t>Health AI functional &amp; safety scenarios</a:t>
            </a:r>
          </a:p>
          <a:p>
            <a:pPr algn="l">
              <a:spcBef>
                <a:spcPts val="600"/>
              </a:spcBef>
              <a:defRPr sz="1000" b="1">
                <a:solidFill>
                  <a:srgbClr val="0F766E"/>
                </a:solidFill>
                <a:latin typeface="Segoe UI"/>
              </a:defRPr>
            </a:pPr>
            <a:r>
              <a:rPr sz="1400"/>
              <a:t>• 192: </a:t>
            </a:r>
            <a:r>
              <a:rPr sz="1400" b="0">
                <a:solidFill>
                  <a:srgbClr val="526174"/>
                </a:solidFill>
                <a:latin typeface="Segoe UI"/>
              </a:rPr>
              <a:t>Backend-connected executions</a:t>
            </a:r>
          </a:p>
          <a:p>
            <a:pPr algn="l">
              <a:spcBef>
                <a:spcPts val="600"/>
              </a:spcBef>
              <a:defRPr sz="1000" b="1">
                <a:solidFill>
                  <a:srgbClr val="0F766E"/>
                </a:solidFill>
                <a:latin typeface="Segoe UI"/>
              </a:defRPr>
            </a:pPr>
            <a:r>
              <a:rPr sz="1400"/>
              <a:t>• 192 Passed: </a:t>
            </a:r>
            <a:r>
              <a:rPr sz="1400" b="0">
                <a:solidFill>
                  <a:srgbClr val="526174"/>
                </a:solidFill>
                <a:latin typeface="Segoe UI"/>
              </a:rPr>
              <a:t>0 Failures recorded in test runner</a:t>
            </a:r>
          </a:p>
          <a:p>
            <a:pPr algn="l">
              <a:spcBef>
                <a:spcPts val="600"/>
              </a:spcBef>
              <a:defRPr sz="1000" b="1">
                <a:solidFill>
                  <a:srgbClr val="0F766E"/>
                </a:solidFill>
                <a:latin typeface="Segoe UI"/>
              </a:defRPr>
            </a:pPr>
            <a:r>
              <a:rPr sz="1400"/>
              <a:t>• 13 / 13: </a:t>
            </a:r>
            <a:r>
              <a:rPr sz="1400" b="0">
                <a:solidFill>
                  <a:srgbClr val="526174"/>
                </a:solidFill>
                <a:latin typeface="Segoe UI"/>
              </a:rPr>
              <a:t>E2E verification phases passed</a:t>
            </a:r>
          </a:p>
          <a:p>
            <a:pPr algn="l">
              <a:spcBef>
                <a:spcPts val="600"/>
              </a:spcBef>
              <a:defRPr sz="1000" b="1">
                <a:solidFill>
                  <a:srgbClr val="0F766E"/>
                </a:solidFill>
                <a:latin typeface="Segoe UI"/>
              </a:defRPr>
            </a:pPr>
            <a:r>
              <a:rPr sz="1400"/>
              <a:t>• 3,448 B: </a:t>
            </a:r>
            <a:r>
              <a:rPr sz="1400" b="0">
                <a:solidFill>
                  <a:srgbClr val="526174"/>
                </a:solidFill>
                <a:latin typeface="Segoe UI"/>
              </a:rPr>
              <a:t>Binary ReportLab referral PDF generated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234440"/>
            <a:ext cx="341345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t"/>
          <a:lstStyle/>
          <a:p>
            <a:pPr algn="l">
              <a:spcAft>
                <a:spcPts val="1000"/>
              </a:spcAft>
              <a:defRPr sz="1100" b="1">
                <a:solidFill>
                  <a:srgbClr val="A855F7"/>
                </a:solidFill>
                <a:latin typeface="Segoe UI"/>
              </a:defRPr>
            </a:pPr>
            <a:r>
              <a:rPr sz="1400"/>
              <a:t>SECTION 3 — FUTURE ROADMAP</a:t>
            </a:r>
          </a:p>
          <a:p>
            <a:pPr algn="l">
              <a:spcBef>
                <a:spcPts val="600"/>
              </a:spcBef>
              <a:defRPr sz="950" b="1">
                <a:solidFill>
                  <a:srgbClr val="0F172A"/>
                </a:solidFill>
                <a:latin typeface="Segoe UI"/>
              </a:defRPr>
            </a:pPr>
            <a:r>
              <a:rPr sz="1400"/>
              <a:t>➔ Wider Multilingual Coverage: </a:t>
            </a:r>
            <a:r>
              <a:rPr sz="1400" b="0">
                <a:solidFill>
                  <a:srgbClr val="526174"/>
                </a:solidFill>
                <a:latin typeface="Segoe UI"/>
              </a:rPr>
              <a:t>Expanded regional Indian dialect models.</a:t>
            </a:r>
          </a:p>
          <a:p>
            <a:pPr algn="l">
              <a:spcBef>
                <a:spcPts val="600"/>
              </a:spcBef>
              <a:defRPr sz="950" b="1">
                <a:solidFill>
                  <a:srgbClr val="0F172A"/>
                </a:solidFill>
                <a:latin typeface="Segoe UI"/>
              </a:defRPr>
            </a:pPr>
            <a:r>
              <a:rPr sz="1400"/>
              <a:t>➔ Hospital EHR / ABDM Integration: </a:t>
            </a:r>
            <a:r>
              <a:rPr sz="1400" b="0">
                <a:solidFill>
                  <a:srgbClr val="526174"/>
                </a:solidFill>
                <a:latin typeface="Segoe UI"/>
              </a:rPr>
              <a:t>FHIR-compliant health records sync.</a:t>
            </a:r>
          </a:p>
          <a:p>
            <a:pPr algn="l">
              <a:spcBef>
                <a:spcPts val="600"/>
              </a:spcBef>
              <a:defRPr sz="950" b="1">
                <a:solidFill>
                  <a:srgbClr val="0F172A"/>
                </a:solidFill>
                <a:latin typeface="Segoe UI"/>
              </a:defRPr>
            </a:pPr>
            <a:r>
              <a:rPr sz="1400"/>
              <a:t>➔ Multi-Center Clinical Validation: </a:t>
            </a:r>
            <a:r>
              <a:rPr sz="1400" b="0">
                <a:solidFill>
                  <a:srgbClr val="526174"/>
                </a:solidFill>
                <a:latin typeface="Segoe UI"/>
              </a:rPr>
              <a:t>Hospital pilot trials across departments.</a:t>
            </a:r>
          </a:p>
          <a:p>
            <a:pPr algn="l">
              <a:spcBef>
                <a:spcPts val="600"/>
              </a:spcBef>
              <a:defRPr sz="950" b="1">
                <a:solidFill>
                  <a:srgbClr val="0F172A"/>
                </a:solidFill>
                <a:latin typeface="Segoe UI"/>
              </a:defRPr>
            </a:pPr>
            <a:r>
              <a:rPr sz="1400"/>
              <a:t>➔ Offline Low-Connectivity Sync: </a:t>
            </a:r>
            <a:r>
              <a:rPr sz="1400" b="0">
                <a:solidFill>
                  <a:srgbClr val="526174"/>
                </a:solidFill>
                <a:latin typeface="Segoe UI"/>
              </a:rPr>
              <a:t>Edge SQLite replication for rural PHCs.</a:t>
            </a:r>
          </a:p>
          <a:p>
            <a:pPr algn="l">
              <a:spcBef>
                <a:spcPts val="600"/>
              </a:spcBef>
              <a:defRPr sz="950" b="1">
                <a:solidFill>
                  <a:srgbClr val="0F172A"/>
                </a:solidFill>
                <a:latin typeface="Segoe UI"/>
              </a:defRPr>
            </a:pPr>
            <a:r>
              <a:rPr sz="1400"/>
              <a:t>➔ Wearable Vitals Streaming: </a:t>
            </a:r>
            <a:r>
              <a:rPr sz="1400" b="0">
                <a:solidFill>
                  <a:srgbClr val="526174"/>
                </a:solidFill>
                <a:latin typeface="Segoe UI"/>
              </a:rPr>
              <a:t>Continuous IoT telemetry ingestion.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640080"/>
            <a:ext cx="10728655" cy="45720"/>
          </a:xfrm>
          <a:prstGeom prst="rect">
            <a:avLst/>
          </a:prstGeom>
          <a:solidFill>
            <a:srgbClr val="13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28655" cy="1463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THANK YOU</a:t>
            </a:r>
          </a:p>
          <a:p>
            <a:pPr algn="l">
              <a:spcBef>
                <a:spcPts val="200"/>
              </a:spcBef>
              <a:defRPr sz="1700">
                <a:solidFill>
                  <a:srgbClr val="73E0D0"/>
                </a:solidFill>
                <a:latin typeface="Segoe UI"/>
              </a:defRPr>
            </a:pPr>
            <a:r>
              <a:rPr dirty="0"/>
              <a:t>Questions &amp; Demonstration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97480"/>
            <a:ext cx="5486400" cy="3383280"/>
          </a:xfrm>
          <a:prstGeom prst="roundRect">
            <a:avLst/>
          </a:prstGeom>
          <a:solidFill>
            <a:srgbClr val="14243A"/>
          </a:solidFill>
          <a:ln w="12700">
            <a:solidFill>
              <a:srgbClr val="22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t"/>
          <a:lstStyle/>
          <a:p>
            <a:pPr algn="l">
              <a:spcAft>
                <a:spcPts val="1000"/>
              </a:spcAft>
              <a:defRPr sz="1300" b="1">
                <a:solidFill>
                  <a:srgbClr val="73E0D0"/>
                </a:solidFill>
                <a:latin typeface="Segoe UI"/>
              </a:defRPr>
            </a:pPr>
            <a:r>
              <a:rPr sz="1600"/>
              <a:t>PROJECT:  SWASTHYA TRIAGE</a:t>
            </a:r>
          </a:p>
          <a:p>
            <a:pPr algn="l">
              <a:spcAft>
                <a:spcPts val="800"/>
              </a:spcAft>
              <a:defRPr sz="1100" b="1">
                <a:solidFill>
                  <a:srgbClr val="73E0D0"/>
                </a:solidFill>
                <a:latin typeface="Segoe UI"/>
              </a:defRPr>
            </a:pPr>
            <a:r>
              <a:rPr sz="1600"/>
              <a:t>Team Name: </a:t>
            </a:r>
            <a:r>
              <a:rPr sz="1600" b="0">
                <a:solidFill>
                  <a:srgbClr val="FDE047"/>
                </a:solidFill>
                <a:latin typeface="Segoe UI"/>
              </a:rPr>
              <a:t>[ADD]</a:t>
            </a:r>
          </a:p>
          <a:p>
            <a:pPr algn="l">
              <a:spcAft>
                <a:spcPts val="800"/>
              </a:spcAft>
              <a:defRPr sz="1100" b="1">
                <a:solidFill>
                  <a:srgbClr val="73E0D0"/>
                </a:solidFill>
                <a:latin typeface="Segoe UI"/>
              </a:defRPr>
            </a:pPr>
            <a:r>
              <a:rPr sz="1600"/>
              <a:t>Problem Statement ID: </a:t>
            </a:r>
            <a:r>
              <a:rPr sz="1600" b="0">
                <a:solidFill>
                  <a:srgbClr val="FDE047"/>
                </a:solidFill>
                <a:latin typeface="Segoe UI"/>
              </a:rPr>
              <a:t>[ADD]</a:t>
            </a:r>
          </a:p>
          <a:p>
            <a:pPr algn="l">
              <a:spcAft>
                <a:spcPts val="800"/>
              </a:spcAft>
              <a:defRPr sz="1100" b="1">
                <a:solidFill>
                  <a:srgbClr val="73E0D0"/>
                </a:solidFill>
                <a:latin typeface="Segoe UI"/>
              </a:defRPr>
            </a:pPr>
            <a:r>
              <a:rPr sz="1600"/>
              <a:t>Live Website / QR Code: </a:t>
            </a:r>
            <a:r>
              <a:rPr sz="1600" b="0">
                <a:solidFill>
                  <a:srgbClr val="FDE047"/>
                </a:solidFill>
                <a:latin typeface="Segoe UI"/>
              </a:rPr>
              <a:t>[ADD LATER]</a:t>
            </a:r>
          </a:p>
          <a:p>
            <a:pPr algn="l">
              <a:spcAft>
                <a:spcPts val="800"/>
              </a:spcAft>
              <a:defRPr sz="1100" b="1">
                <a:solidFill>
                  <a:srgbClr val="10B981"/>
                </a:solidFill>
                <a:latin typeface="Segoe UI"/>
              </a:defRPr>
            </a:pPr>
            <a:r>
              <a:rPr sz="1600"/>
              <a:t>Technology Stack: </a:t>
            </a:r>
            <a:r>
              <a:rPr sz="1600" b="0">
                <a:solidFill>
                  <a:srgbClr val="FFFFFF"/>
                </a:solidFill>
                <a:latin typeface="Segoe UI"/>
              </a:rPr>
              <a:t>FastAPI + Python + React 19 + SQLite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2697480"/>
            <a:ext cx="4967935" cy="3383280"/>
          </a:xfrm>
          <a:prstGeom prst="roundRect">
            <a:avLst/>
          </a:prstGeom>
          <a:solidFill>
            <a:srgbClr val="14243A"/>
          </a:solidFill>
          <a:ln w="19050">
            <a:solidFill>
              <a:srgbClr val="13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t"/>
          <a:lstStyle/>
          <a:p>
            <a:pPr algn="l">
              <a:spcAft>
                <a:spcPts val="800"/>
              </a:spcAft>
              <a:defRPr sz="1300" b="1">
                <a:solidFill>
                  <a:srgbClr val="73E0D0"/>
                </a:solidFill>
                <a:latin typeface="Segoe UI"/>
              </a:defRPr>
            </a:pPr>
            <a:r>
              <a:rPr sz="1400"/>
              <a:t>Swasthya Triage Highlights:</a:t>
            </a:r>
          </a:p>
          <a:p>
            <a:pPr algn="l">
              <a:spcBef>
                <a:spcPts val="400"/>
              </a:spcBef>
              <a:defRPr sz="1000">
                <a:solidFill>
                  <a:srgbClr val="FFFFFF"/>
                </a:solidFill>
                <a:latin typeface="Segoe UI"/>
              </a:defRPr>
            </a:pPr>
            <a:r>
              <a:rPr sz="1400"/>
              <a:t>★  100% Real Working Full-Stack Healthcare System</a:t>
            </a:r>
          </a:p>
          <a:p>
            <a:pPr algn="l">
              <a:spcBef>
                <a:spcPts val="400"/>
              </a:spcBef>
              <a:defRPr sz="1000">
                <a:solidFill>
                  <a:srgbClr val="FFFFFF"/>
                </a:solidFill>
                <a:latin typeface="Segoe UI"/>
              </a:defRPr>
            </a:pPr>
            <a:r>
              <a:rPr sz="1400"/>
              <a:t>★  Multimodal Intake (Text, Voice, Medical Reports OCR)</a:t>
            </a:r>
          </a:p>
          <a:p>
            <a:pPr algn="l">
              <a:spcBef>
                <a:spcPts val="400"/>
              </a:spcBef>
              <a:defRPr sz="1000">
                <a:solidFill>
                  <a:srgbClr val="FFFFFF"/>
                </a:solidFill>
                <a:latin typeface="Segoe UI"/>
              </a:defRPr>
            </a:pPr>
            <a:r>
              <a:rPr sz="1400"/>
              <a:t>★  Strictly Non-Diagnostic Clinician-Supervised AI</a:t>
            </a:r>
          </a:p>
          <a:p>
            <a:pPr algn="l">
              <a:spcBef>
                <a:spcPts val="400"/>
              </a:spcBef>
              <a:defRPr sz="1000">
                <a:solidFill>
                  <a:srgbClr val="FFFFFF"/>
                </a:solidFill>
                <a:latin typeface="Segoe UI"/>
              </a:defRPr>
            </a:pPr>
            <a:r>
              <a:rPr sz="1400"/>
              <a:t>★  Dedicated Workflows for Patient, Nurse, and Doctor</a:t>
            </a:r>
          </a:p>
          <a:p>
            <a:pPr algn="l">
              <a:spcBef>
                <a:spcPts val="400"/>
              </a:spcBef>
              <a:defRPr sz="1000">
                <a:solidFill>
                  <a:srgbClr val="FFFFFF"/>
                </a:solidFill>
                <a:latin typeface="Segoe UI"/>
              </a:defRPr>
            </a:pPr>
            <a:r>
              <a:rPr sz="1400"/>
              <a:t>★  192/192 Backend Automated Safety Tests Passed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1355</Words>
  <Application>Microsoft Office PowerPoint</Application>
  <PresentationFormat>Widescreen</PresentationFormat>
  <Paragraphs>164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MANASH MALLICK</cp:lastModifiedBy>
  <cp:revision>2</cp:revision>
  <dcterms:created xsi:type="dcterms:W3CDTF">2013-01-27T09:14:16Z</dcterms:created>
  <dcterms:modified xsi:type="dcterms:W3CDTF">2026-10-10T13:56:22Z</dcterms:modified>
  <cp:category/>
</cp:coreProperties>
</file>